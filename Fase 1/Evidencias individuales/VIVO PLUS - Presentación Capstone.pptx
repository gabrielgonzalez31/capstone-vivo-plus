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6858000" cy="9144000"/>
  <p:embeddedFontLst>
    <p:embeddedFont>
      <p:font typeface="League Spartan"/>
      <p:regular r:id="rId28"/>
      <p:bold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Roboto Condensed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League Spartan Medium"/>
      <p:regular r:id="rId42"/>
      <p:bold r:id="rId43"/>
    </p:embeddedFont>
    <p:embeddedFont>
      <p:font typeface="Plus Jakarta Sans ExtraBold"/>
      <p:bold r:id="rId44"/>
      <p:boldItalic r:id="rId45"/>
    </p:embeddedFont>
    <p:embeddedFont>
      <p:font typeface="Inter SemiBold"/>
      <p:regular r:id="rId46"/>
      <p:bold r:id="rId47"/>
      <p:italic r:id="rId48"/>
      <p:boldItalic r:id="rId49"/>
    </p:embeddedFont>
    <p:embeddedFont>
      <p:font typeface="Franklin Gothic"/>
      <p:bold r:id="rId50"/>
    </p:embeddedFont>
    <p:embeddedFont>
      <p:font typeface="Plus Jakarta Sans"/>
      <p:regular r:id="rId51"/>
      <p:bold r:id="rId52"/>
      <p:italic r:id="rId53"/>
      <p:boldItalic r:id="rId54"/>
    </p:embeddedFont>
    <p:embeddedFont>
      <p:font typeface="Bebas Neue"/>
      <p:regular r:id="rId55"/>
    </p:embeddedFont>
    <p:embeddedFont>
      <p:font typeface="League Spartan SemiBold"/>
      <p:regular r:id="rId56"/>
      <p:bold r:id="rId57"/>
    </p:embeddedFont>
    <p:embeddedFont>
      <p:font typeface="Inter ExtraBold"/>
      <p:bold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0" roundtripDataSignature="AMtx7mgLHPRFWZ/RjuU9jdnF84ZHAIU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A37288-6172-4103-9C15-E1991EDDE7B5}">
  <a:tblStyle styleId="{78A37288-6172-4103-9C15-E1991EDDE7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42" Type="http://schemas.openxmlformats.org/officeDocument/2006/relationships/font" Target="fonts/LeagueSpartanMedium-regular.fntdata"/><Relationship Id="rId41" Type="http://schemas.openxmlformats.org/officeDocument/2006/relationships/font" Target="fonts/RobotoMono-boldItalic.fntdata"/><Relationship Id="rId44" Type="http://schemas.openxmlformats.org/officeDocument/2006/relationships/font" Target="fonts/PlusJakartaSansExtraBold-bold.fntdata"/><Relationship Id="rId43" Type="http://schemas.openxmlformats.org/officeDocument/2006/relationships/font" Target="fonts/LeagueSpartanMedium-bold.fntdata"/><Relationship Id="rId46" Type="http://schemas.openxmlformats.org/officeDocument/2006/relationships/font" Target="fonts/InterSemiBold-regular.fntdata"/><Relationship Id="rId45" Type="http://schemas.openxmlformats.org/officeDocument/2006/relationships/font" Target="fonts/PlusJakartaSans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InterSemiBold-italic.fntdata"/><Relationship Id="rId47" Type="http://schemas.openxmlformats.org/officeDocument/2006/relationships/font" Target="fonts/InterSemiBold-bold.fntdata"/><Relationship Id="rId49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33" Type="http://schemas.openxmlformats.org/officeDocument/2006/relationships/font" Target="fonts/Inter-boldItalic.fntdata"/><Relationship Id="rId32" Type="http://schemas.openxmlformats.org/officeDocument/2006/relationships/font" Target="fonts/Inter-italic.fntdata"/><Relationship Id="rId35" Type="http://schemas.openxmlformats.org/officeDocument/2006/relationships/font" Target="fonts/RobotoCondensed-bold.fntdata"/><Relationship Id="rId34" Type="http://schemas.openxmlformats.org/officeDocument/2006/relationships/font" Target="fonts/RobotoCondensed-regular.fntdata"/><Relationship Id="rId37" Type="http://schemas.openxmlformats.org/officeDocument/2006/relationships/font" Target="fonts/RobotoCondensed-boldItalic.fntdata"/><Relationship Id="rId36" Type="http://schemas.openxmlformats.org/officeDocument/2006/relationships/font" Target="fonts/RobotoCondensed-italic.fntdata"/><Relationship Id="rId39" Type="http://schemas.openxmlformats.org/officeDocument/2006/relationships/font" Target="fonts/RobotoMono-bold.fntdata"/><Relationship Id="rId38" Type="http://schemas.openxmlformats.org/officeDocument/2006/relationships/font" Target="fonts/RobotoMono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customschemas.google.com/relationships/presentationmetadata" Target="meta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LeagueSpartan-regular.fntdata"/><Relationship Id="rId27" Type="http://schemas.openxmlformats.org/officeDocument/2006/relationships/slide" Target="slides/slide20.xml"/><Relationship Id="rId29" Type="http://schemas.openxmlformats.org/officeDocument/2006/relationships/font" Target="fonts/LeagueSpartan-bold.fntdata"/><Relationship Id="rId51" Type="http://schemas.openxmlformats.org/officeDocument/2006/relationships/font" Target="fonts/PlusJakartaSans-regular.fntdata"/><Relationship Id="rId50" Type="http://schemas.openxmlformats.org/officeDocument/2006/relationships/font" Target="fonts/FranklinGothic-bold.fntdata"/><Relationship Id="rId53" Type="http://schemas.openxmlformats.org/officeDocument/2006/relationships/font" Target="fonts/PlusJakartaSans-italic.fntdata"/><Relationship Id="rId52" Type="http://schemas.openxmlformats.org/officeDocument/2006/relationships/font" Target="fonts/PlusJakartaSans-bold.fntdata"/><Relationship Id="rId11" Type="http://schemas.openxmlformats.org/officeDocument/2006/relationships/slide" Target="slides/slide4.xml"/><Relationship Id="rId55" Type="http://schemas.openxmlformats.org/officeDocument/2006/relationships/font" Target="fonts/BebasNeue-regular.fntdata"/><Relationship Id="rId10" Type="http://schemas.openxmlformats.org/officeDocument/2006/relationships/slide" Target="slides/slide3.xml"/><Relationship Id="rId54" Type="http://schemas.openxmlformats.org/officeDocument/2006/relationships/font" Target="fonts/PlusJakartaSans-boldItalic.fntdata"/><Relationship Id="rId13" Type="http://schemas.openxmlformats.org/officeDocument/2006/relationships/slide" Target="slides/slide6.xml"/><Relationship Id="rId57" Type="http://schemas.openxmlformats.org/officeDocument/2006/relationships/font" Target="fonts/LeagueSpartanSemiBold-bold.fntdata"/><Relationship Id="rId12" Type="http://schemas.openxmlformats.org/officeDocument/2006/relationships/slide" Target="slides/slide5.xml"/><Relationship Id="rId56" Type="http://schemas.openxmlformats.org/officeDocument/2006/relationships/font" Target="fonts/LeagueSpartanSemiBold-regular.fntdata"/><Relationship Id="rId15" Type="http://schemas.openxmlformats.org/officeDocument/2006/relationships/slide" Target="slides/slide8.xml"/><Relationship Id="rId59" Type="http://schemas.openxmlformats.org/officeDocument/2006/relationships/font" Target="fonts/InterExtraBold-boldItalic.fntdata"/><Relationship Id="rId14" Type="http://schemas.openxmlformats.org/officeDocument/2006/relationships/slide" Target="slides/slide7.xml"/><Relationship Id="rId58" Type="http://schemas.openxmlformats.org/officeDocument/2006/relationships/font" Target="fonts/InterExtraBold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9be7bf0c7_4_3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f9be7bf0c7_4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be7bf0c7_4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9be7bf0c7_4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9be7bf0c7_4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f9be7bf0c7_4_1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be7bf0c7_4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9be7bf0c7_4_10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9be7bf0c7_4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f9be7bf0c7_4_4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be7bf0c7_4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f9be7bf0c7_4_5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9be7bf0c7_4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f9be7bf0c7_4_7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9be7bf0c7_4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f9be7bf0c7_4_8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be7bf0c7_4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f9be7bf0c7_4_9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414ee107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f414ee107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7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be7bf0c7_4_1004"/>
          <p:cNvSpPr/>
          <p:nvPr/>
        </p:nvSpPr>
        <p:spPr>
          <a:xfrm flipH="1">
            <a:off x="-1" y="0"/>
            <a:ext cx="6172782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f9be7bf0c7_4_10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" y="11958"/>
            <a:ext cx="6024154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7" name="Google Shape;87;g3f9be7bf0c7_4_10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164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f9be7bf0c7_4_1004"/>
          <p:cNvSpPr txBox="1"/>
          <p:nvPr>
            <p:ph idx="1" type="subTitle"/>
          </p:nvPr>
        </p:nvSpPr>
        <p:spPr>
          <a:xfrm>
            <a:off x="7046267" y="5620875"/>
            <a:ext cx="48051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" name="Google Shape;89;g3f9be7bf0c7_4_1004"/>
          <p:cNvSpPr txBox="1"/>
          <p:nvPr>
            <p:ph type="title"/>
          </p:nvPr>
        </p:nvSpPr>
        <p:spPr>
          <a:xfrm>
            <a:off x="5325033" y="2487700"/>
            <a:ext cx="65265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9be7bf0c7_4_10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3812149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g3f9be7bf0c7_4_1010"/>
          <p:cNvGrpSpPr/>
          <p:nvPr/>
        </p:nvGrpSpPr>
        <p:grpSpPr>
          <a:xfrm>
            <a:off x="0" y="-124"/>
            <a:ext cx="6471402" cy="5740374"/>
            <a:chOff x="0" y="-126"/>
            <a:chExt cx="4554438" cy="5386482"/>
          </a:xfrm>
        </p:grpSpPr>
        <p:sp>
          <p:nvSpPr>
            <p:cNvPr id="93" name="Google Shape;93;g3f9be7bf0c7_4_1010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94" name="Google Shape;94;g3f9be7bf0c7_4_1010"/>
            <p:cNvPicPr preferRelativeResize="0"/>
            <p:nvPr/>
          </p:nvPicPr>
          <p:blipFill rotWithShape="1">
            <a:blip r:embed="rId3">
              <a:alphaModFix/>
            </a:blip>
            <a:srcRect b="0" l="9870" r="6483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95" name="Google Shape;95;g3f9be7bf0c7_4_1010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9be7bf0c7_4_1016"/>
          <p:cNvSpPr/>
          <p:nvPr/>
        </p:nvSpPr>
        <p:spPr>
          <a:xfrm>
            <a:off x="1830633" y="212725"/>
            <a:ext cx="64083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8" name="Google Shape;98;g3f9be7bf0c7_4_1016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9be7bf0c7_4_1016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9be7bf0c7_4_1016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01" name="Google Shape;101;g3f9be7bf0c7_4_10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2" y="389413"/>
            <a:ext cx="274670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f9be7bf0c7_4_1016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3" name="Google Shape;103;g3f9be7bf0c7_4_1016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be7bf0c7_4_1024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9be7bf0c7_4_1024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f9be7bf0c7_4_10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2" y="389413"/>
            <a:ext cx="274670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f9be7bf0c7_4_1024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9" name="Google Shape;109;g3f9be7bf0c7_4_1024"/>
          <p:cNvSpPr/>
          <p:nvPr/>
        </p:nvSpPr>
        <p:spPr>
          <a:xfrm>
            <a:off x="1830633" y="212725"/>
            <a:ext cx="64083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0" name="Google Shape;110;g3f9be7bf0c7_4_1024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g3f9be7bf0c7_4_1024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be7bf0c7_4_1032"/>
          <p:cNvSpPr txBox="1"/>
          <p:nvPr>
            <p:ph idx="1" type="body"/>
          </p:nvPr>
        </p:nvSpPr>
        <p:spPr>
          <a:xfrm>
            <a:off x="747183" y="2634922"/>
            <a:ext cx="10697700" cy="22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114" name="Google Shape;114;g3f9be7bf0c7_4_10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2" y="392750"/>
            <a:ext cx="3678715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9be7bf0c7_4_1032"/>
          <p:cNvSpPr txBox="1"/>
          <p:nvPr>
            <p:ph idx="2" type="body"/>
          </p:nvPr>
        </p:nvSpPr>
        <p:spPr>
          <a:xfrm>
            <a:off x="747183" y="1632286"/>
            <a:ext cx="10697700" cy="6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116" name="Google Shape;116;g3f9be7bf0c7_4_1032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9be7bf0c7_4_1032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9be7bf0c7_4_1032"/>
          <p:cNvSpPr/>
          <p:nvPr/>
        </p:nvSpPr>
        <p:spPr>
          <a:xfrm>
            <a:off x="1830633" y="212725"/>
            <a:ext cx="64083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9" name="Google Shape;119;g3f9be7bf0c7_4_1032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be7bf0c7_4_1040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123" name="Google Shape;123;g3f9be7bf0c7_4_10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7311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f9be7bf0c7_4_1042"/>
          <p:cNvSpPr/>
          <p:nvPr/>
        </p:nvSpPr>
        <p:spPr>
          <a:xfrm>
            <a:off x="782437" y="385379"/>
            <a:ext cx="10778700" cy="70080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9be7bf0c7_4_1042"/>
          <p:cNvSpPr/>
          <p:nvPr/>
        </p:nvSpPr>
        <p:spPr>
          <a:xfrm>
            <a:off x="5490464" y="297797"/>
            <a:ext cx="1541700" cy="166500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9be7bf0c7_4_1042"/>
          <p:cNvSpPr/>
          <p:nvPr/>
        </p:nvSpPr>
        <p:spPr>
          <a:xfrm>
            <a:off x="7019439" y="297797"/>
            <a:ext cx="1541700" cy="166500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9be7bf0c7_4_1042"/>
          <p:cNvSpPr/>
          <p:nvPr/>
        </p:nvSpPr>
        <p:spPr>
          <a:xfrm>
            <a:off x="8548413" y="297797"/>
            <a:ext cx="1541700" cy="166500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9be7bf0c7_4_1042"/>
          <p:cNvSpPr/>
          <p:nvPr/>
        </p:nvSpPr>
        <p:spPr>
          <a:xfrm>
            <a:off x="10019861" y="297797"/>
            <a:ext cx="1541700" cy="166500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129" name="Google Shape;129;g3f9be7bf0c7_4_10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437" y="6225296"/>
            <a:ext cx="1992644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9be7bf0c7_4_1042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be7bf0c7_4_1000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2" name="Google Shape;82;g3f9be7bf0c7_4_1000"/>
          <p:cNvSpPr txBox="1"/>
          <p:nvPr>
            <p:ph idx="12" type="sldNum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f9be7bf0c7_4_1000"/>
          <p:cNvSpPr txBox="1"/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57.png"/><Relationship Id="rId5" Type="http://schemas.openxmlformats.org/officeDocument/2006/relationships/image" Target="../media/image5.png"/><Relationship Id="rId6" Type="http://schemas.openxmlformats.org/officeDocument/2006/relationships/image" Target="../media/image66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7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19.png"/><Relationship Id="rId13" Type="http://schemas.openxmlformats.org/officeDocument/2006/relationships/image" Target="../media/image55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Relationship Id="rId14" Type="http://schemas.openxmlformats.org/officeDocument/2006/relationships/image" Target="../media/image68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27.png"/><Relationship Id="rId13" Type="http://schemas.openxmlformats.org/officeDocument/2006/relationships/image" Target="../media/image32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64.png"/><Relationship Id="rId15" Type="http://schemas.openxmlformats.org/officeDocument/2006/relationships/image" Target="../media/image31.png"/><Relationship Id="rId14" Type="http://schemas.openxmlformats.org/officeDocument/2006/relationships/image" Target="../media/image4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46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Relationship Id="rId9" Type="http://schemas.openxmlformats.org/officeDocument/2006/relationships/image" Target="../media/image50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69.png"/><Relationship Id="rId7" Type="http://schemas.openxmlformats.org/officeDocument/2006/relationships/image" Target="../media/image72.png"/><Relationship Id="rId8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51.png"/><Relationship Id="rId5" Type="http://schemas.openxmlformats.org/officeDocument/2006/relationships/image" Target="../media/image62.png"/><Relationship Id="rId6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Relationship Id="rId7" Type="http://schemas.openxmlformats.org/officeDocument/2006/relationships/image" Target="../media/image59.png"/><Relationship Id="rId8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60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g3f9be7bf0c7_4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6525" y="1844150"/>
            <a:ext cx="20653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9be7bf0c7_4_355"/>
          <p:cNvSpPr txBox="1"/>
          <p:nvPr/>
        </p:nvSpPr>
        <p:spPr>
          <a:xfrm>
            <a:off x="7115450" y="2520475"/>
            <a:ext cx="5958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6100" u="none" cap="none" strike="noStrike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VIVO PLUS</a:t>
            </a:r>
            <a:endParaRPr b="0" i="0" sz="3300" u="none" cap="none" strike="noStrike">
              <a:solidFill>
                <a:schemeClr val="lt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7" name="Google Shape;137;g3f9be7bf0c7_4_355"/>
          <p:cNvSpPr txBox="1"/>
          <p:nvPr/>
        </p:nvSpPr>
        <p:spPr>
          <a:xfrm>
            <a:off x="6174375" y="3869100"/>
            <a:ext cx="5187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League Spartan SemiBold"/>
                <a:ea typeface="League Spartan SemiBold"/>
                <a:cs typeface="League Spartan SemiBold"/>
                <a:sym typeface="League Spartan SemiBold"/>
              </a:rPr>
              <a:t>Plataforma de Servicios Estudiantiles y Gestión Deportiva</a:t>
            </a:r>
            <a:endParaRPr b="0" i="0" sz="1500" u="none" cap="none" strike="noStrike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8" name="Google Shape;138;g3f9be7bf0c7_4_355"/>
          <p:cNvSpPr txBox="1"/>
          <p:nvPr/>
        </p:nvSpPr>
        <p:spPr>
          <a:xfrm>
            <a:off x="6174381" y="4629850"/>
            <a:ext cx="1920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075" u="none" cap="none" strike="noStrike">
                <a:solidFill>
                  <a:srgbClr val="6474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b="0" i="0" lang="en-US" sz="1075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NTEGRANTES DEL EQUIPO</a:t>
            </a:r>
            <a:endParaRPr b="0" i="0" sz="15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9" name="Google Shape;139;g3f9be7bf0c7_4_355"/>
          <p:cNvSpPr txBox="1"/>
          <p:nvPr/>
        </p:nvSpPr>
        <p:spPr>
          <a:xfrm>
            <a:off x="6174371" y="4847900"/>
            <a:ext cx="4758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0F172A"/>
                </a:solidFill>
                <a:latin typeface="League Spartan SemiBold"/>
                <a:ea typeface="League Spartan SemiBold"/>
                <a:cs typeface="League Spartan SemiBold"/>
                <a:sym typeface="League Spartan SemiBold"/>
              </a:rPr>
              <a:t>Gabriel González · Gabriel Rodríguez · María Jesús Ulloa</a:t>
            </a:r>
            <a:endParaRPr b="0" i="0" sz="15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0" name="Google Shape;140;g3f9be7bf0c7_4_355"/>
          <p:cNvSpPr txBox="1"/>
          <p:nvPr/>
        </p:nvSpPr>
        <p:spPr>
          <a:xfrm>
            <a:off x="6174372" y="5123850"/>
            <a:ext cx="31809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225" u="none" cap="none" strike="noStrik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rPr>
              <a:t>Duoc UC — Sede Maipú</a:t>
            </a:r>
            <a:endParaRPr b="0" i="0" sz="1500" u="none" cap="none" strike="noStrike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be7bf0c7_4_62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0" y="3429000"/>
            <a:ext cx="5001874" cy="862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0" y="4406490"/>
            <a:ext cx="5001874" cy="862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200" y="5383980"/>
            <a:ext cx="5001874" cy="86214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"/>
          <p:cNvSpPr txBox="1"/>
          <p:nvPr/>
        </p:nvSpPr>
        <p:spPr>
          <a:xfrm>
            <a:off x="1096081" y="3808146"/>
            <a:ext cx="453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Arial"/>
              <a:buNone/>
            </a:pPr>
            <a:r>
              <a:rPr b="0" i="0" lang="en-US" sz="7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Procesos manuales que generan tiempos de espera prolongados e insatisfacción estudiantil durante la solicitud de insumos.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096081" y="4785636"/>
            <a:ext cx="453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Arial"/>
              <a:buNone/>
            </a:pPr>
            <a:r>
              <a:rPr b="0" i="0" lang="en-US" sz="7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Imposibilidad de consultar el stock de insumos deportivos en tiempo real de manera remota, requiriendo verificación presencial.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096081" y="5763127"/>
            <a:ext cx="4532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Arial"/>
              <a:buNone/>
            </a:pPr>
            <a:r>
              <a:rPr b="0" i="0" lang="en-US" sz="7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Servicios e información estudiantil repartidos en múltiples canales desintegrados sin una ventana de acceso unificada.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6" name="Google Shape;15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8325" y="35925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/>
        </p:nvSpPr>
        <p:spPr>
          <a:xfrm>
            <a:off x="1300298" y="3609249"/>
            <a:ext cx="1794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1" i="0" lang="en-US" sz="102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Ineficiencia Operativa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4038" y="455874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"/>
          <p:cNvSpPr txBox="1"/>
          <p:nvPr/>
        </p:nvSpPr>
        <p:spPr>
          <a:xfrm>
            <a:off x="1300306" y="4585264"/>
            <a:ext cx="19614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1" i="0" lang="en-US" sz="102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Brecha de Digitalización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0" name="Google Shape;16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050" y="552490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"/>
          <p:cNvSpPr txBox="1"/>
          <p:nvPr/>
        </p:nvSpPr>
        <p:spPr>
          <a:xfrm>
            <a:off x="1328356" y="5561280"/>
            <a:ext cx="1738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1" i="0" lang="en-US" sz="102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Información Dispersa</a:t>
            </a:r>
            <a:endParaRPr b="0" i="0" sz="1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571500" y="476250"/>
            <a:ext cx="58959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Contexto, Problemática, Descripción APT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445525" y="1468200"/>
            <a:ext cx="5895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vida universitaria actual existe una notable ineficiencia operativa en el acceso a servicios deportivos y recreativos, donde la falta de trazabilidad en los préstamos y la imposibilidad de consultar el stock o la disponibilidad de talleres en tiempo real generan tiempos de espera y desinformación; ante esta problemática, la propuesta técnica (APT) es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VIVO PLUS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una plataforma web centralizada que automatiza la gestión de insumos deportivos en tiempo real, digitaliza la identificación mediante un Perfil QR, centraliza la inscripción a talleres y unifica la difusión de beneficios estudiantiles de la sede.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9175" y="-59875"/>
            <a:ext cx="5895975" cy="69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3040"/>
            <a:ext cx="5048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571500" y="2084040"/>
            <a:ext cx="53006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Plataforma VIVO PLUS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571500" y="2592585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Sistema web centralizado diseñado para automatizar y optimizar la gestión de servicios deportivos y la difusión de beneficios estudiantiles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850" y="1774477"/>
            <a:ext cx="10001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269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 txBox="1"/>
          <p:nvPr/>
        </p:nvSpPr>
        <p:spPr>
          <a:xfrm>
            <a:off x="857250" y="3487935"/>
            <a:ext cx="2295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Automatización de Préstamos: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857250" y="3697475"/>
            <a:ext cx="4034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Registro y devolución agilizada de materiales recreativos.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467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"/>
          <p:cNvSpPr txBox="1"/>
          <p:nvPr/>
        </p:nvSpPr>
        <p:spPr>
          <a:xfrm>
            <a:off x="857250" y="4049900"/>
            <a:ext cx="229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Visibilidad Instantánea: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857250" y="4259450"/>
            <a:ext cx="481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Consulta de disponibilidad e inscripciones desde cualquier dispositivo.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0" name="Google Shape;1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1664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/>
          <p:cNvSpPr txBox="1"/>
          <p:nvPr/>
        </p:nvSpPr>
        <p:spPr>
          <a:xfrm>
            <a:off x="857250" y="4611875"/>
            <a:ext cx="250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Alineación Académica: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857250" y="4821425"/>
            <a:ext cx="50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Desarrollo tecnológico alineado con las competencias del perfil de egreso.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8151" y="948650"/>
            <a:ext cx="2295600" cy="505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53675" y="937362"/>
            <a:ext cx="2295600" cy="507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6490"/>
            <a:ext cx="5429250" cy="1158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36490"/>
            <a:ext cx="5429250" cy="1158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5170"/>
            <a:ext cx="5429250" cy="1158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985170"/>
            <a:ext cx="5429250" cy="1158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874615"/>
            <a:ext cx="4667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2874615"/>
            <a:ext cx="4667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223295"/>
            <a:ext cx="5524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4223295"/>
            <a:ext cx="5238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975" y="302701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 txBox="1"/>
          <p:nvPr/>
        </p:nvSpPr>
        <p:spPr>
          <a:xfrm>
            <a:off x="1428750" y="2874615"/>
            <a:ext cx="455056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Perfil QR Estudiantil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1428750" y="3156495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Identificación digital mediante código QR para validación de identidad y acceso rápido a los servicios de sede.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1" name="Google Shape;20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2725" y="302701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 txBox="1"/>
          <p:nvPr/>
        </p:nvSpPr>
        <p:spPr>
          <a:xfrm>
            <a:off x="7048500" y="2874615"/>
            <a:ext cx="455056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Talleres &amp; Deportes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7048500" y="3156495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Gestión e inscripción a talleres extracurriculares, revisión de cupos disponibles y horarios actualizados.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4" name="Google Shape;20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2975" y="437569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1514475" y="4223295"/>
            <a:ext cx="446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Gestión de Inventario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1514475" y="4505176"/>
            <a:ext cx="424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 automatizado de stock de insumos recreativos con estados en tiempo real (Disponible / Prestado / Mantenimiento).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7" name="Google Shape;207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62725" y="437569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/>
          <p:nvPr/>
        </p:nvSpPr>
        <p:spPr>
          <a:xfrm>
            <a:off x="7105650" y="4223295"/>
            <a:ext cx="449056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Servicios Complementarios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105650" y="4505176"/>
            <a:ext cx="4276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Portal unificado con avisos, beneficios estudiantiles e información clave de apoyo al alumno.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571500" y="931515"/>
            <a:ext cx="437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funcional dividida en cuatro pilares estratégicos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be7bf0c7_4_178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g3f9be7bf0c7_4_10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07472"/>
            <a:ext cx="10848900" cy="412559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f9be7bf0c7_4_1051"/>
          <p:cNvSpPr txBox="1"/>
          <p:nvPr/>
        </p:nvSpPr>
        <p:spPr>
          <a:xfrm>
            <a:off x="1438582" y="2586229"/>
            <a:ext cx="8453100" cy="3144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Área del Perfil de Egreso</a:t>
            </a:r>
            <a:endParaRPr b="1" i="0" sz="20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Desarrollo e Integración Web: </a:t>
            </a: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Construcción de arquitectura Full-Stack (Frontend y Backend) responsiva, escalable y centralizada.</a:t>
            </a:r>
            <a:endParaRPr b="0" i="0" sz="16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Gestión y Modelado de Datos: </a:t>
            </a: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Diseño de base de datos relacional para el control de inventario y reservas de insumos en tiempo real.</a:t>
            </a:r>
            <a:endParaRPr b="0" i="0" sz="16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Metodologías Ágiles (Scrum): </a:t>
            </a: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Planificación incremental por Sprints, gestión de backlog y entregas continuas de un MVP.</a:t>
            </a:r>
            <a:endParaRPr b="0" i="0" sz="16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Aseguramiento de Calidad (QA): </a:t>
            </a:r>
            <a:r>
              <a:rPr b="0" i="0" lang="en-US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Diseño y ejecución de casos de prueba de integración, rendimiento y validación de usabilidad UX/UI.</a:t>
            </a:r>
            <a:endParaRPr b="0" i="0" sz="160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g3f9be7bf0c7_4_105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Relación con el perfil de egreso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9be7bf0c7_4_1051"/>
          <p:cNvSpPr txBox="1"/>
          <p:nvPr/>
        </p:nvSpPr>
        <p:spPr>
          <a:xfrm>
            <a:off x="571500" y="931515"/>
            <a:ext cx="43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funcional dividida en cuatro pilares estratégicos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be7bf0c7_4_471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6578"/>
            <a:ext cx="2619375" cy="204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866578"/>
            <a:ext cx="2619375" cy="204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866578"/>
            <a:ext cx="2619375" cy="204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2866578"/>
            <a:ext cx="2619375" cy="204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43062" y="316185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 txBox="1"/>
          <p:nvPr/>
        </p:nvSpPr>
        <p:spPr>
          <a:xfrm>
            <a:off x="676036" y="3790503"/>
            <a:ext cx="2410301" cy="19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Factibilidad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733425" y="4060924"/>
            <a:ext cx="229552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 rigurosamente para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17 a 18 semanas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académicas mediante entregas en Sprints.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2937" y="316185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"/>
          <p:cNvSpPr txBox="1"/>
          <p:nvPr/>
        </p:nvSpPr>
        <p:spPr>
          <a:xfrm>
            <a:off x="3485911" y="3790503"/>
            <a:ext cx="2410301" cy="19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Viabilidad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3543300" y="4060924"/>
            <a:ext cx="229552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Uso de arquitecturas web estándar y robustas para garantizar el desarrollo ágil de un MVP funcional.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5" name="Google Shape;24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62812" y="316185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"/>
          <p:cNvSpPr txBox="1"/>
          <p:nvPr/>
        </p:nvSpPr>
        <p:spPr>
          <a:xfrm>
            <a:off x="6295786" y="3790503"/>
            <a:ext cx="2410301" cy="19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Factibilidad Operativa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6353175" y="4060924"/>
            <a:ext cx="229552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Acceso directo a la sede Maipú para un levantamiento de requerimientos ágil y preciso.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72687" y="316185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 txBox="1"/>
          <p:nvPr/>
        </p:nvSpPr>
        <p:spPr>
          <a:xfrm>
            <a:off x="9105661" y="3790503"/>
            <a:ext cx="2410301" cy="19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Pertinencia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9163050" y="4060924"/>
            <a:ext cx="229552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Alineación directa con los intereses profesionales y competencias del perfil de egreso APT.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0700" y="3295203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57712" y="3295203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67587" y="3295203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29850" y="3295203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Viabilidad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571500" y="931515"/>
            <a:ext cx="516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Evaluación de factores clave de ejecución dentro del marco académico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9be7bf0c7_4_587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4051"/>
            <a:ext cx="110490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8976"/>
            <a:ext cx="2647950" cy="1166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1850" y="3958976"/>
            <a:ext cx="2647950" cy="1166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3958976"/>
            <a:ext cx="2647950" cy="1166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2550" y="3958976"/>
            <a:ext cx="2647950" cy="116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6"/>
          <p:cNvSpPr txBox="1"/>
          <p:nvPr/>
        </p:nvSpPr>
        <p:spPr>
          <a:xfrm>
            <a:off x="857250" y="3130301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Desarrollar e implementar la plataforma web integrada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"Vivo Plus"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optimizar la gestión de talleres deportivos, la trazabilidad del préstamo de insumos en tiempo real y la visualización de servicios estudiantiles en la sede.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3" name="Google Shape;27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86360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"/>
          <p:cNvSpPr txBox="1"/>
          <p:nvPr/>
        </p:nvSpPr>
        <p:spPr>
          <a:xfrm>
            <a:off x="1181100" y="2865536"/>
            <a:ext cx="1860232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752475" y="4178050"/>
            <a:ext cx="111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01. 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752475" y="4387601"/>
            <a:ext cx="22860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Levantar y priorizar los requerimientos funcionales y no funcionales de la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3552825" y="4178050"/>
            <a:ext cx="99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02.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3552825" y="4387601"/>
            <a:ext cx="22860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Modelar la base de datos relacional y diseñar las interfaces de usuario (UX/UI).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6353175" y="4178051"/>
            <a:ext cx="990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03.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6353175" y="4387601"/>
            <a:ext cx="22860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Construir e integrar los módulos del sistema en sus capas Frontend y Backend.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9153525" y="4178050"/>
            <a:ext cx="99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04. CALIDAD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9153525" y="4387601"/>
            <a:ext cx="22860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Ejecutar pruebas de software (QA), usabilidad e integración de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571500" y="931515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Definición clara de metas para guiar la construcción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be7bf0c7_4_764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23345"/>
            <a:ext cx="11049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65945"/>
            <a:ext cx="35305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0600" y="2565945"/>
            <a:ext cx="353064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2565945"/>
            <a:ext cx="35305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809625" y="3251745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809625" y="3556545"/>
            <a:ext cx="30542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Definición y priorización continua de historias de usuario adaptadas a las necesidades inmediatas.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4568725" y="3251745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Sprints Cortos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4568725" y="3556545"/>
            <a:ext cx="30543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Ciclos breves de desarrollo para revisar avances, detectar mejoras y ajustar requerimientos.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8327975" y="3251745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Trabajo en 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8327975" y="3556545"/>
            <a:ext cx="3054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Distribución de roles en Ingeniería de Requisitos, UI/UX, Backend, Frontend, BDD y QA.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481384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 txBox="1"/>
          <p:nvPr/>
        </p:nvSpPr>
        <p:spPr>
          <a:xfrm>
            <a:off x="1181100" y="4837658"/>
            <a:ext cx="4905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Flujo Iterativo: Sprint Planning → Desarrollo → Review → MVP Incremental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7" name="Google Shape;30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8612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68725" y="28612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27975" y="286122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571500" y="931515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Adopción del marco ágil Scrum para entregas iterativas e incrementales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9be7bf0c7_4_880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4533"/>
            <a:ext cx="35305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694533"/>
            <a:ext cx="3530649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850" y="2694533"/>
            <a:ext cx="35305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142333"/>
            <a:ext cx="30542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8725" y="4142333"/>
            <a:ext cx="3054399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7975" y="4142333"/>
            <a:ext cx="30542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/>
          <p:nvPr/>
        </p:nvSpPr>
        <p:spPr>
          <a:xfrm>
            <a:off x="581025" y="2704058"/>
            <a:ext cx="35114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932658"/>
            <a:ext cx="15144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9"/>
          <p:cNvSpPr txBox="1"/>
          <p:nvPr/>
        </p:nvSpPr>
        <p:spPr>
          <a:xfrm>
            <a:off x="809625" y="3313658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809625" y="3618458"/>
            <a:ext cx="305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Levantamiento y priorización de requerimientos funcionales y no funcionales.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340125" y="2704058"/>
            <a:ext cx="35115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68725" y="2932658"/>
            <a:ext cx="15525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9"/>
          <p:cNvSpPr txBox="1"/>
          <p:nvPr/>
        </p:nvSpPr>
        <p:spPr>
          <a:xfrm>
            <a:off x="4568725" y="3313658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4568725" y="3618458"/>
            <a:ext cx="30543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Diseño del modelo de base de datos relacional y prototipos navegables UI/UX.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099375" y="2704058"/>
            <a:ext cx="35114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7" name="Google Shape;33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27975" y="2932658"/>
            <a:ext cx="16049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9"/>
          <p:cNvSpPr txBox="1"/>
          <p:nvPr/>
        </p:nvSpPr>
        <p:spPr>
          <a:xfrm>
            <a:off x="8327975" y="3313658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8327975" y="3618458"/>
            <a:ext cx="305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Implementación de Frontend, Backend, integración de módulos y pruebas QA.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809625" y="4304258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RESPONSABLES: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809625" y="4475708"/>
            <a:ext cx="305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María Jesús Ulloa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Gabriel Rodríguez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4568725" y="4304258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RESPONSABLES: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4568725" y="4475708"/>
            <a:ext cx="30543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Gabriel González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María Jesús Ulloa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8327975" y="4304258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RESPONSABLES: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8327975" y="4475708"/>
            <a:ext cx="3054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Gabriel Rodríguez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Gabriel González &amp; M.J. Ulloa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 de Trabajo por Fases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571500" y="931515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Estructuración temporal, actividades y responsables por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9be7bf0c7_4_996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8"/>
          <p:cNvGraphicFramePr/>
          <p:nvPr/>
        </p:nvGraphicFramePr>
        <p:xfrm>
          <a:off x="571500" y="26254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{78A37288-6172-4103-9C15-E1991EDDE7B5}</a:tableStyleId>
              </a:tblPr>
              <a:tblGrid>
                <a:gridCol w="1654375"/>
                <a:gridCol w="2757475"/>
                <a:gridCol w="3529450"/>
                <a:gridCol w="3088625"/>
              </a:tblGrid>
              <a:tr h="63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Tipo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Nombre de Evidencia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Descripción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Justificación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3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Levantamiento de Requisitos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Especificación detallada de requisitos funcionales, no funcionales y flujos del sistema.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Acredita la correcta aplicación de Ingeniería de Requisitos.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Prototipo UI/UX y BDD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Prototipos interactivos de las interfaces principales y modelo entidad-relación.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Permite validar la experiencia de usuario y la arquitectura de datos.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Incremento Funcional Scrum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de avance en sprints, Sprint Backlog e incrementos de software funcional.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Demuestra la construcción progresiva del MVP mediante Scrum.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8"/>
          <p:cNvSpPr/>
          <p:nvPr/>
        </p:nvSpPr>
        <p:spPr>
          <a:xfrm>
            <a:off x="581025" y="3116014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235398" y="3116014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992885" y="3116014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8522344" y="3116014"/>
            <a:ext cx="3088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81025" y="3792289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235398" y="3792289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992885" y="3792289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8522344" y="3792289"/>
            <a:ext cx="3088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581025" y="4468564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2235398" y="4468564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992885" y="4468564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8522344" y="4468564"/>
            <a:ext cx="3088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1" name="Google Shape;3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825" y="3426771"/>
            <a:ext cx="819150" cy="271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538" y="3999471"/>
            <a:ext cx="847725" cy="271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825" y="4675758"/>
            <a:ext cx="847725" cy="27146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Matriz de Entregables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571500" y="931515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Evidencias concretas para la validación progresiva de los 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3100"/>
            <a:ext cx="11049000" cy="275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8575" y="3325564"/>
            <a:ext cx="116279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1394" y="3754189"/>
            <a:ext cx="123199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3418" y="4182814"/>
            <a:ext cx="303386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81082" y="4611439"/>
            <a:ext cx="3172717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10"/>
          <p:cNvGraphicFramePr/>
          <p:nvPr/>
        </p:nvGraphicFramePr>
        <p:xfrm>
          <a:off x="733425" y="2835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{78A37288-6172-4103-9C15-E1991EDDE7B5}</a:tableStyleId>
              </a:tblPr>
              <a:tblGrid>
                <a:gridCol w="3000375"/>
                <a:gridCol w="1362825"/>
                <a:gridCol w="1432025"/>
                <a:gridCol w="1547675"/>
                <a:gridCol w="1686225"/>
                <a:gridCol w="1686525"/>
              </a:tblGrid>
              <a:tr h="42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Fase / Actividad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S1-S3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S4-S7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S8-S12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S13-S15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S16-S17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 Levantamiento de Requisitos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 3 Sem</a:t>
                      </a: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2. Diseño BDD y Prototipos UI/UX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 4 Sem</a:t>
                      </a: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3. Desarrollo Frontend &amp; Backend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 8 Sem</a:t>
                      </a: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4. Integración y Pruebas QA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 2 Sem</a:t>
                      </a:r>
                      <a:b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10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Carta Gantt Estimada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 txBox="1"/>
          <p:nvPr/>
        </p:nvSpPr>
        <p:spPr>
          <a:xfrm>
            <a:off x="571500" y="931515"/>
            <a:ext cx="491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Planificación semanal para las 17 semanas de duración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3f414ee1079_0_4"/>
          <p:cNvPicPr preferRelativeResize="0"/>
          <p:nvPr/>
        </p:nvPicPr>
        <p:blipFill rotWithShape="1">
          <a:blip r:embed="rId3">
            <a:alphaModFix/>
          </a:blip>
          <a:srcRect b="0" l="0" r="33928" t="0"/>
          <a:stretch/>
        </p:blipFill>
        <p:spPr>
          <a:xfrm>
            <a:off x="552200" y="466900"/>
            <a:ext cx="11087601" cy="592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850" y="1915417"/>
            <a:ext cx="24003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4687" y="4161383"/>
            <a:ext cx="576262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 txBox="1"/>
          <p:nvPr/>
        </p:nvSpPr>
        <p:spPr>
          <a:xfrm>
            <a:off x="2095500" y="2372617"/>
            <a:ext cx="800100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¿Consultas o 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2286000" y="3256508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 su atención. Quedamos a disposición para resolver cualquier inquietud sobre la propuesta de VIVO PLUS.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3" name="Google Shape;40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1986855"/>
            <a:ext cx="157162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5595937" y="4409033"/>
            <a:ext cx="9525" cy="2857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3657600" y="4380458"/>
            <a:ext cx="1562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CAPSTONE APT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3567099" y="4532850"/>
            <a:ext cx="184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Duoc UC — Sede Maipú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6553200" y="4380458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EQUIPO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5891199" y="4532850"/>
            <a:ext cx="308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Gabriel G. · Gabriel R. · María Jesús 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